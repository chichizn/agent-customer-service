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3c6990ed2407c" /><Relationship Type="http://schemas.openxmlformats.org/officeDocument/2006/relationships/extended-properties" Target="/docProps/app.xml" Id="R09ed86588982429f" /><Relationship Type="http://schemas.openxmlformats.org/officeDocument/2006/relationships/officeDocument" Target="/ppt/presentation.xml" Id="R3cd4fb421694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5b2402b9594566"/>
  </p:sldMasterIdLst>
  <p:notesMasterIdLst>
    <p:notesMasterId xmlns:r="http://schemas.openxmlformats.org/officeDocument/2006/relationships" r:id="Re268974ea94742cb"/>
  </p:notesMasterIdLst>
  <p:sldIdLst>
    <p:sldId xmlns:r="http://schemas.openxmlformats.org/officeDocument/2006/relationships" id="256" r:id="R1da24e7753cc4bb0"/>
    <p:sldId xmlns:r="http://schemas.openxmlformats.org/officeDocument/2006/relationships" id="257" r:id="Rcf04dc9158c243ba"/>
    <p:sldId xmlns:r="http://schemas.openxmlformats.org/officeDocument/2006/relationships" id="258" r:id="R2fcbe00fd3bb4f0d"/>
    <p:sldId xmlns:r="http://schemas.openxmlformats.org/officeDocument/2006/relationships" id="259" r:id="R28969eb6c0f34549"/>
    <p:sldId xmlns:r="http://schemas.openxmlformats.org/officeDocument/2006/relationships" id="260" r:id="R43aa20da94464c38"/>
    <p:sldId xmlns:r="http://schemas.openxmlformats.org/officeDocument/2006/relationships" id="261" r:id="R45c1d1a54aac4d95"/>
    <p:sldId xmlns:r="http://schemas.openxmlformats.org/officeDocument/2006/relationships" id="262" r:id="Rfb10811f30e54888"/>
    <p:sldId xmlns:r="http://schemas.openxmlformats.org/officeDocument/2006/relationships" id="263" r:id="R73c24efce63c444e"/>
    <p:sldId xmlns:r="http://schemas.openxmlformats.org/officeDocument/2006/relationships" id="264" r:id="Ra64ab8704f5542b6"/>
    <p:sldId xmlns:r="http://schemas.openxmlformats.org/officeDocument/2006/relationships" id="265" r:id="R1f5835181b4f402e"/>
    <p:sldId xmlns:r="http://schemas.openxmlformats.org/officeDocument/2006/relationships" id="266" r:id="R2baff540a5224742"/>
    <p:sldId xmlns:r="http://schemas.openxmlformats.org/officeDocument/2006/relationships" id="267" r:id="R0acc24c4b05c41a4"/>
    <p:sldId xmlns:r="http://schemas.openxmlformats.org/officeDocument/2006/relationships" id="268" r:id="R191f27d2f8e94d04"/>
    <p:sldId xmlns:r="http://schemas.openxmlformats.org/officeDocument/2006/relationships" id="269" r:id="R86b2353873494153"/>
    <p:sldId xmlns:r="http://schemas.openxmlformats.org/officeDocument/2006/relationships" id="270" r:id="Rd61233c3f41248b6"/>
    <p:sldId xmlns:r="http://schemas.openxmlformats.org/officeDocument/2006/relationships" id="271" r:id="R827f70c0952d4c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00e9e12814ab7" /><Relationship Type="http://schemas.openxmlformats.org/officeDocument/2006/relationships/slideMaster" Target="/ppt/slideMasters/slideMaster1.xml" Id="Raf5b2402b9594566" /><Relationship Type="http://schemas.openxmlformats.org/officeDocument/2006/relationships/notesMaster" Target="/ppt/notesMasters/notesMaster1.xml" Id="Re268974ea94742cb" /><Relationship Type="http://schemas.openxmlformats.org/officeDocument/2006/relationships/presProps" Target="/ppt/presProps.xml" Id="Rcca5af15a9b2448c" /><Relationship Type="http://schemas.openxmlformats.org/officeDocument/2006/relationships/tableStyles" Target="/ppt/tableStyles.xml" Id="Ra32a75a4678e41e3" /><Relationship Type="http://schemas.openxmlformats.org/officeDocument/2006/relationships/slide" Target="/ppt/slides/slide1.xml" Id="R1da24e7753cc4bb0" /><Relationship Type="http://schemas.openxmlformats.org/officeDocument/2006/relationships/slide" Target="/ppt/slides/slide2.xml" Id="Rcf04dc9158c243ba" /><Relationship Type="http://schemas.openxmlformats.org/officeDocument/2006/relationships/slide" Target="/ppt/slides/slide3.xml" Id="R2fcbe00fd3bb4f0d" /><Relationship Type="http://schemas.openxmlformats.org/officeDocument/2006/relationships/slide" Target="/ppt/slides/slide4.xml" Id="R28969eb6c0f34549" /><Relationship Type="http://schemas.openxmlformats.org/officeDocument/2006/relationships/slide" Target="/ppt/slides/slide5.xml" Id="R43aa20da94464c38" /><Relationship Type="http://schemas.openxmlformats.org/officeDocument/2006/relationships/slide" Target="/ppt/slides/slide6.xml" Id="R45c1d1a54aac4d95" /><Relationship Type="http://schemas.openxmlformats.org/officeDocument/2006/relationships/slide" Target="/ppt/slides/slide7.xml" Id="Rfb10811f30e54888" /><Relationship Type="http://schemas.openxmlformats.org/officeDocument/2006/relationships/slide" Target="/ppt/slides/slide8.xml" Id="R73c24efce63c444e" /><Relationship Type="http://schemas.openxmlformats.org/officeDocument/2006/relationships/slide" Target="/ppt/slides/slide9.xml" Id="Ra64ab8704f5542b6" /><Relationship Type="http://schemas.openxmlformats.org/officeDocument/2006/relationships/slide" Target="/ppt/slides/slide10.xml" Id="R1f5835181b4f402e" /><Relationship Type="http://schemas.openxmlformats.org/officeDocument/2006/relationships/slide" Target="/ppt/slides/slide11.xml" Id="R2baff540a5224742" /><Relationship Type="http://schemas.openxmlformats.org/officeDocument/2006/relationships/slide" Target="/ppt/slides/slide12.xml" Id="R0acc24c4b05c41a4" /><Relationship Type="http://schemas.openxmlformats.org/officeDocument/2006/relationships/slide" Target="/ppt/slides/slide13.xml" Id="R191f27d2f8e94d04" /><Relationship Type="http://schemas.openxmlformats.org/officeDocument/2006/relationships/slide" Target="/ppt/slides/slide14.xml" Id="R86b2353873494153" /><Relationship Type="http://schemas.openxmlformats.org/officeDocument/2006/relationships/slide" Target="/ppt/slides/slide15.xml" Id="Rd61233c3f41248b6" /><Relationship Type="http://schemas.openxmlformats.org/officeDocument/2006/relationships/slide" Target="/ppt/slides/slide16.xml" Id="R827f70c0952d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8a088052ff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d877abf58844a0" /><Relationship Type="http://schemas.openxmlformats.org/officeDocument/2006/relationships/notesMaster" Target="/ppt/notesMasters/notesMaster1.xml" Id="R73dcc56dc69a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11011715344f25" /><Relationship Type="http://schemas.openxmlformats.org/officeDocument/2006/relationships/notesMaster" Target="/ppt/notesMasters/notesMaster1.xml" Id="R51d1c685dc4546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cba5243b134882" /><Relationship Type="http://schemas.openxmlformats.org/officeDocument/2006/relationships/notesMaster" Target="/ppt/notesMasters/notesMaster1.xml" Id="R008476f734b7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7496ab52564658" /><Relationship Type="http://schemas.openxmlformats.org/officeDocument/2006/relationships/notesMaster" Target="/ppt/notesMasters/notesMaster1.xml" Id="Rbb5896386c3246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548d2c7054462" /><Relationship Type="http://schemas.openxmlformats.org/officeDocument/2006/relationships/notesMaster" Target="/ppt/notesMasters/notesMaster1.xml" Id="R68826bcc3356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eaef98fd44ce2" /><Relationship Type="http://schemas.openxmlformats.org/officeDocument/2006/relationships/notesMaster" Target="/ppt/notesMasters/notesMaster1.xml" Id="R9eac351346e246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70b36d13143a2" /><Relationship Type="http://schemas.openxmlformats.org/officeDocument/2006/relationships/notesMaster" Target="/ppt/notesMasters/notesMaster1.xml" Id="R5d1090710c2148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fd69e278084467" /><Relationship Type="http://schemas.openxmlformats.org/officeDocument/2006/relationships/notesMaster" Target="/ppt/notesMasters/notesMaster1.xml" Id="Redc6609eba2f4a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97d26004b24fb7" /><Relationship Type="http://schemas.openxmlformats.org/officeDocument/2006/relationships/notesMaster" Target="/ppt/notesMasters/notesMaster1.xml" Id="R75574427b65e45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112f89c44246ed" /><Relationship Type="http://schemas.openxmlformats.org/officeDocument/2006/relationships/notesMaster" Target="/ppt/notesMasters/notesMaster1.xml" Id="Rfe0be06b064047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866018e1d041f5" /><Relationship Type="http://schemas.openxmlformats.org/officeDocument/2006/relationships/notesMaster" Target="/ppt/notesMasters/notesMaster1.xml" Id="R5a3a147d5eae4b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37974c0ae646f4" /><Relationship Type="http://schemas.openxmlformats.org/officeDocument/2006/relationships/notesMaster" Target="/ppt/notesMasters/notesMaster1.xml" Id="Rbef5f40d72ea47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14600cd17e49b9" /><Relationship Type="http://schemas.openxmlformats.org/officeDocument/2006/relationships/notesMaster" Target="/ppt/notesMasters/notesMaster1.xml" Id="R9682423433ed47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640d95cc67469e" /><Relationship Type="http://schemas.openxmlformats.org/officeDocument/2006/relationships/notesMaster" Target="/ppt/notesMasters/notesMaster1.xml" Id="R4545837ea58147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9e50faebec4d6d" /><Relationship Type="http://schemas.openxmlformats.org/officeDocument/2006/relationships/notesMaster" Target="/ppt/notesMasters/notesMaster1.xml" Id="Rea2943a209464b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c2ab5bb14a4f42" /><Relationship Type="http://schemas.openxmlformats.org/officeDocument/2006/relationships/notesMaster" Target="/ppt/notesMasters/notesMaster1.xml" Id="Rea74747973ca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图片来源：docs/acceptance/evidence/2026-10-20-run12/workbench.jpg。真实本地 Java 后端运行截图，店铺、顾客、订单为虚构演示数据。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截图来源：docs/acceptance/evidence/2026-10-20-run11/18-static-customer.png。本地后端模拟顾客端，所有订单为演示数据。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实现依据：docs/acceptance/evidence/2026-10-20-run13/verification.md；backend/src/main/java 下 AgentService、LlmService 与客服业务服务。分析温度 0.1，回复温度 0.7。模型优先，失败后顺序降级，并非两套系统并行执行。公开站仅运行浏览器模拟逻辑。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直接来源：docs/acceptance/evidence/2026-10-20-run13/verification.md 和 automated-checks.json、rules-disabled.json、autonomous-json-mode.json。历史模型知识检查不能合并成最终模式成功率。所有结果来自受控测试，并非经营或生产数据。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docs/competition/2026-10-20/商业计划书.md；项目状态为工程 MVP。商业定价、经营数据、路线图均按各页标注区分事实与假设。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公开体验链接为 GitHub Pages 上的无登录浏览器模拟站。站内清楚标注本地规则、虚构订单、localStorage 存储，不调用真实大模型。体验步骤与截图见同目录体验与提交说明.md。比赛截图要求初赛商业 BP、产品体验链接、录屏或截图，截止日期为2026-10-20 23:00。提交主体的真实信息需要团队按实填写。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82e27b78946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c76909e6d4b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f56042c8e40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f6415bf5c45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036bb83f94b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ed89b70c04b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C892F-189A-47F0-9FF9-6A739DE00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B9E04-6AFF-403F-89C4-21EBFD1B32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41A16B-923C-4998-8A0F-060C442DC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A794F-EA91-4724-9BDC-02F59EB35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678292-0FF9-464A-956F-0B690FFD1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DAED-E509-4632-85D6-7B4F04C2B3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7A2D79-4EB3-4E55-B17E-461C9937AE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428454-11BA-4742-A42F-D13709BB71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7156D-E555-43CF-9791-3CA411016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DF3E3E-B7C4-4765-BC5B-4762BA035D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8107a527b74744" /><Relationship Type="http://schemas.openxmlformats.org/officeDocument/2006/relationships/slideLayout" Target="/ppt/slideLayouts/slideLayout1.xml" Id="R885fa8f070104e0e" /><Relationship Type="http://schemas.openxmlformats.org/officeDocument/2006/relationships/slideLayout" Target="/ppt/slideLayouts/slideLayout2.xml" Id="Re705d2e4bda24a45" /><Relationship Type="http://schemas.openxmlformats.org/officeDocument/2006/relationships/slideLayout" Target="/ppt/slideLayouts/slideLayout3.xml" Id="Ra8dcc5bd0cc7455e" /><Relationship Type="http://schemas.openxmlformats.org/officeDocument/2006/relationships/slideLayout" Target="/ppt/slideLayouts/slideLayout4.xml" Id="Rbba5bbca64a34f63" /><Relationship Type="http://schemas.openxmlformats.org/officeDocument/2006/relationships/slideLayout" Target="/ppt/slideLayouts/slideLayout5.xml" Id="R9d1182812d03442a" /><Relationship Type="http://schemas.openxmlformats.org/officeDocument/2006/relationships/slideLayout" Target="/ppt/slideLayouts/slideLayout6.xml" Id="Ra12b4d1d002440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fa8f070104e0e"/>
    <p:sldLayoutId xmlns:r="http://schemas.openxmlformats.org/officeDocument/2006/relationships" id="2147483650" r:id="Re705d2e4bda24a45"/>
    <p:sldLayoutId xmlns:r="http://schemas.openxmlformats.org/officeDocument/2006/relationships" id="2147483651" r:id="Ra8dcc5bd0cc7455e"/>
    <p:sldLayoutId xmlns:r="http://schemas.openxmlformats.org/officeDocument/2006/relationships" id="2147483652" r:id="Rbba5bbca64a34f63"/>
    <p:sldLayoutId xmlns:r="http://schemas.openxmlformats.org/officeDocument/2006/relationships" id="2147483653" r:id="R9d1182812d03442a"/>
    <p:sldLayoutId xmlns:r="http://schemas.openxmlformats.org/officeDocument/2006/relationships" id="2147483654" r:id="Ra12b4d1d0024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f6c78e3f0427d" /><Relationship Type="http://schemas.openxmlformats.org/officeDocument/2006/relationships/image" Target="/ppt/media/image.jpeg" Id="R16a7fd773c2f4a28" /><Relationship Type="http://schemas.openxmlformats.org/officeDocument/2006/relationships/notesSlide" Target="/ppt/notesSlides/notesSlide1.xml" Id="Rf92a7725f3d149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4025ae53f43ac" /><Relationship Type="http://schemas.openxmlformats.org/officeDocument/2006/relationships/notesSlide" Target="/ppt/notesSlides/notesSlide2.xml" Id="R8f567c90c83e47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e821d429d4ba7" /><Relationship Type="http://schemas.openxmlformats.org/officeDocument/2006/relationships/image" Target="/ppt/media/image2.jpeg" Id="R465409908b4b48de" /><Relationship Type="http://schemas.openxmlformats.org/officeDocument/2006/relationships/notesSlide" Target="/ppt/notesSlides/notesSlide3.xml" Id="R55f4c41d7bd5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562817ae5418b" /><Relationship Type="http://schemas.openxmlformats.org/officeDocument/2006/relationships/image" Target="/ppt/media/image3.jpeg" Id="Rf26be90e9e6b4c78" /><Relationship Type="http://schemas.openxmlformats.org/officeDocument/2006/relationships/notesSlide" Target="/ppt/notesSlides/notesSlide4.xml" Id="R4f1f36b52d3540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56151d5c94c12" /><Relationship Type="http://schemas.openxmlformats.org/officeDocument/2006/relationships/notesSlide" Target="/ppt/notesSlides/notesSlide5.xml" Id="Rde2d6eaf116546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ccb595f774923" /><Relationship Type="http://schemas.openxmlformats.org/officeDocument/2006/relationships/notesSlide" Target="/ppt/notesSlides/notesSlide6.xml" Id="R5d05c663318a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27405078e4ea9" /><Relationship Type="http://schemas.openxmlformats.org/officeDocument/2006/relationships/notesSlide" Target="/ppt/notesSlides/notesSlide7.xml" Id="Rf9fb018211ea4c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929197da6422c" /><Relationship Type="http://schemas.openxmlformats.org/officeDocument/2006/relationships/notesSlide" Target="/ppt/notesSlides/notesSlide8.xml" Id="Ra9a85167f35542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af6faa24f4a73" /><Relationship Type="http://schemas.openxmlformats.org/officeDocument/2006/relationships/notesSlide" Target="/ppt/notesSlides/notesSlide9.xml" Id="R0ad00d95b9ef4a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a353b3b024132" /><Relationship Type="http://schemas.openxmlformats.org/officeDocument/2006/relationships/notesSlide" Target="/ppt/notesSlides/notesSlide10.xml" Id="R59a7fcd9266342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3eb67cee24556" /><Relationship Type="http://schemas.openxmlformats.org/officeDocument/2006/relationships/notesSlide" Target="/ppt/notesSlides/notesSlide11.xml" Id="Rf4e0e0bca5c14f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013b42ad346a0" /><Relationship Type="http://schemas.openxmlformats.org/officeDocument/2006/relationships/notesSlide" Target="/ppt/notesSlides/notesSlide12.xml" Id="Rb29fca3598ee44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84fe34cb842ad" /><Relationship Type="http://schemas.openxmlformats.org/officeDocument/2006/relationships/notesSlide" Target="/ppt/notesSlides/notesSlide13.xml" Id="Recbf06a2a00d4e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c6f0f783942b6" /><Relationship Type="http://schemas.openxmlformats.org/officeDocument/2006/relationships/notesSlide" Target="/ppt/notesSlides/notesSlide14.xml" Id="R7e12ff0b6f3f48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ccbd1b8b242cd" /><Relationship Type="http://schemas.openxmlformats.org/officeDocument/2006/relationships/notesSlide" Target="/ppt/notesSlides/notesSlide15.xml" Id="R54c08fa1d4e24e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a669049e34211" /><Relationship Type="http://schemas.openxmlformats.org/officeDocument/2006/relationships/hyperlink" Target="https://chichizn.github.io/agent-customer-service/experience.html" TargetMode="External" Id="R495b34b9d9534cfa" /><Relationship Type="http://schemas.openxmlformats.org/officeDocument/2006/relationships/notesSlide" Target="/ppt/notesSlides/notesSlide16.xml" Id="R47397869ec72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FF83638-716B-4CF8-9ADB-85DE8D9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浙客松 · 天猫校园   /   OPC 产业孵化赛道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7F9554-E724-480B-867C-FC898796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Anjing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51BD7E-3B34-423D-8621-059D73B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80349B-86C9-4AC2-999D-C5C55FF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0F5FE30-9928-4026-B314-21443FCD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619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多平台电商</a:t>
            </a:r>
          </a:p>
          <a:p xmlns:a="http://schemas.openxmlformats.org/drawingml/2006/main">
            <a:pPr>
              <a:def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客服数字员工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50D0A2-B9B4-49FB-8EDD-009DD95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让小商家在一个工作台，</a:t>
            </a:r>
          </a:p>
          <a:p xmlns:a="http://schemas.openxmlformats.org/drawingml/2006/main">
            <a: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处理多家店的咨询与售后。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DCC02-A15B-4819-A3B4-F69F75A6D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fd773c2f4a28"/>
          <a:stretch xmlns:a="http://schemas.openxmlformats.org/drawingml/2006/main"/>
        </p:blipFill>
        <p:spPr>
          <a:xfrm xmlns:a="http://schemas.openxmlformats.org/drawingml/2006/main">
            <a:off x="6572250" y="2372803"/>
            <a:ext cx="5010150" cy="2893444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C261B90-93EF-4576-8107-3DF3D3D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工程 MVP  /  四人团队  /  初赛商业 BP</a:t>
            </a:r>
          </a:p>
        </p:txBody>
      </p:sp>
    </p:spTree>
    <p:extLst>
      <p:ext uri="{BB962C8B-B14F-4D97-AF65-F5344CB8AC3E}">
        <p14:creationId xmlns:p14="http://schemas.microsoft.com/office/powerpoint/2010/main" val="548641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C9A505D-EB74-479A-879B-1674A57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01   客户与问题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F401B3-6E3D-444B-B275-2F46BBE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首先服务“店主兼客服”的小商家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A33765-07CC-4969-8097-1314490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00ECE43-4AF4-499C-94BB-872E645E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91BBA5-9AC6-48E5-9F77-B1FD6161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首批画像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A6714E5-4AF0-4239-85AD-79863B1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生活日用等标准品类</a:t>
            </a:r>
          </a:p>
          <a:p xmlns:a="http://schemas.openxmlformats.org/drawingml/2006/main">
            <a: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经营 1～3 家店铺</a:t>
            </a:r>
          </a:p>
          <a:p xmlns:a="http://schemas.openxmlformats.org/drawingml/2006/main">
            <a:pPr>
              <a:def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店主或小团队承担接待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DDAD3C-FCAF-41C1-AD5E-8539417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需要验证的工作负担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3EE5D5B-67CB-4786-A35B-181348A9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多店切换容易丢失处理上下文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商品和售后规则需要反复解释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查订单、交给人工需要重新整理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AB2F6A7-7DBA-4E7A-BEAA-462BE0F7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客户画像与问题均为首轮假设，下一步用 10 次店主访谈检验。</a:t>
            </a:r>
          </a:p>
        </p:txBody>
      </p:sp>
    </p:spTree>
    <p:extLst>
      <p:ext uri="{BB962C8B-B14F-4D97-AF65-F5344CB8AC3E}">
        <p14:creationId xmlns:p14="http://schemas.microsoft.com/office/powerpoint/2010/main" val="1101867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D041965-0620-46FB-A189-DE22A71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02   产品实景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A18152-F628-416F-91E9-6172A9C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会话、订单与知识依据放在同一页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1100CA-AF59-4BA0-87BD-905A18A0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A14E16F-373B-44A0-B500-9B2AE0D5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5DD21-DFF1-4291-A26D-13FDB174B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409908b4b48de"/>
          <a:stretch xmlns:a="http://schemas.openxmlformats.org/drawingml/2006/main"/>
        </p:blipFill>
        <p:spPr>
          <a:xfrm xmlns:a="http://schemas.openxmlformats.org/drawingml/2006/main">
            <a:off x="2632463" y="1981200"/>
            <a:ext cx="6927074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C51B2E8-BAD8-4937-9FC6-A75D287C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本地后端版截图。淘宝与抖店目前为演示场景，尚未对接真实平台消息。</a:t>
            </a:r>
          </a:p>
        </p:txBody>
      </p:sp>
    </p:spTree>
    <p:extLst>
      <p:ext uri="{BB962C8B-B14F-4D97-AF65-F5344CB8AC3E}">
        <p14:creationId xmlns:p14="http://schemas.microsoft.com/office/powerpoint/2010/main" val="1554971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12279BD9-D0DF-44EE-BE97-5A9AF5F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03   处理流程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2BEE40-60FD-4612-8C85-4C2631D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从顾客发问，到商家完成交接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5B7D8C-542F-44D8-8B4A-E8D9CBDE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D24B6B-71A5-4C17-8E6C-FE53BEA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E6B5EC-96B5-4AA7-BCBA-E6580902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BBBD230-71E7-44CE-A69A-058418DC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顾客提出需求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EEF1B6-2847-4AA6-8751-58053AD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商品咨询、查物流或申请售后。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信息不足时补充订单与原因。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42DB014-E728-4E15-AD22-67D55F5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A00758A-2805-4C5C-A60A-AA1BAE7D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AI 与业务服务协作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84301DC-A2DA-4C2D-887E-62549E4F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知识回答保留依据。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创建演示售后工单前先确认。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345C8-AF8F-4A3A-9C63-365C73DA7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be90e9e6b4c78"/>
          <a:stretch xmlns:a="http://schemas.openxmlformats.org/drawingml/2006/main"/>
        </p:blipFill>
        <p:spPr>
          <a:xfrm xmlns:a="http://schemas.openxmlformats.org/drawingml/2006/main">
            <a:off x="6076950" y="2165260"/>
            <a:ext cx="5505450" cy="3098980"/>
          </a:xfrm>
          <a:prstGeom xmlns:a="http://schemas.openxmlformats.org/drawingml/2006/main" prst="rect">
            <a:avLst/>
          </a:prstGeom>
        </p:spPr>
      </p:pic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11DB4AA-6304-4C94-9E82-7E620A75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550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03   复杂问题交给人工，保留上下文，处理后可恢复 AI。</a:t>
            </a:r>
          </a:p>
        </p:txBody>
      </p:sp>
    </p:spTree>
    <p:extLst>
      <p:ext uri="{BB962C8B-B14F-4D97-AF65-F5344CB8AC3E}">
        <p14:creationId xmlns:p14="http://schemas.microsoft.com/office/powerpoint/2010/main" val="16518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9AEAAA5-A4FF-40CD-A0E0-94529BE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04   回答与执行机制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EE7BF4-5D5C-4239-8208-9BC0387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大模型自主组织回复，规则负责兜底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54A9A7-5010-429D-9341-1ED7E9B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8BE8BDC-F229-4E76-AF10-FE0E5F64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61F2C9-48CD-47FE-BA74-1C92A0F7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日常咨询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5D4E4F-8A80-4DF6-A5D5-5D487044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基于店铺资料与对话回答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49B3137-7FD6-4BCC-B817-9F7293A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10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商品、FAQ、活动、政策及最近消息。</a:t>
            </a:r>
          </a:p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分析温度 0.1，回复温度 0.7。</a:t>
            </a:r>
          </a:p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引用校验失败或调用失败时降级。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52323C1-0EE0-4919-89F8-ACC18995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订单与售后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2DCACA8-9990-46CE-8A7C-8D69D642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由业务服务处理执行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7F1E46F-116E-4CD1-BD8E-3EB4AEA6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订单、物流、工单按归属查询。</a:t>
            </a:r>
          </a:p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提交售后先获得顾客确认。</a:t>
            </a:r>
          </a:p>
          <a:p xmlns:a="http://schemas.openxmlformats.org/drawingml/2006/main">
            <a:pPr>
              <a:def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人工接管后停止 AI 自动接待。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02779EE-AC79-483B-8554-C2997BEC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前端 Vue 3 / TypeScript     后端 Java 17 / Spring Boot / MySQL</a:t>
            </a:r>
          </a:p>
        </p:txBody>
      </p:sp>
    </p:spTree>
    <p:extLst>
      <p:ext uri="{BB962C8B-B14F-4D97-AF65-F5344CB8AC3E}">
        <p14:creationId xmlns:p14="http://schemas.microsoft.com/office/powerpoint/2010/main" val="1190665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83ADDFD-1D89-4862-9504-92D11D2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05   完成范围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E16417-7028-4335-AFED-E48E3FB4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工程流程已打通，商业接入仍需验证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1FFF3C-D4C7-4BA2-B90D-8D0CE207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9521CB-3FE3-4B87-9864-C25FCCD0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9D5AE-4A3F-456B-A7F6-915658BD8ADA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029200"/>
                <a:gridCol w="3990975"/>
              </a:tblGrid>
              <a:tr h="8239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8239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客服协同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多店会话、双端联动、人工接管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真实商家可用性测试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8239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知识与业务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模型回复、规则兜底、演示订单与工单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商家知识审核、成本与延迟测量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  <a:tr h="8239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真实平台与商业化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尚无平台生产授权、付费与营收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授权、权限、许可与付费试点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A7030EA-211C-4E33-B978-6111C6ED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公开体验是独立浏览器模拟站，不调用大模型，不执行真实退款。</a:t>
            </a:r>
          </a:p>
        </p:txBody>
      </p:sp>
    </p:spTree>
    <p:extLst>
      <p:ext uri="{BB962C8B-B14F-4D97-AF65-F5344CB8AC3E}">
        <p14:creationId xmlns:p14="http://schemas.microsoft.com/office/powerpoint/2010/main" val="962328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33A51C0-C627-4316-8E4F-E712B5DB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06   已有验证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CA0CC2-719C-41BE-A2F0-3F90118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已有可追溯的工程证据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1F32AB-D34F-41F3-A5C6-14D814F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00DF15-2BF9-49B7-8A37-53B45DC5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9E6D7-C12A-495A-ACC4-5D042649E480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428875"/>
                <a:gridCol w="4352925"/>
              </a:tblGrid>
              <a:tr h="7858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7858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/ 前端自动化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 / 14 项通过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已有版本的工程回归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7858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关闭模型 HTTP 回归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57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验证兜底与业务处理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  <a:tr h="785813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JSON 模式自主回复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3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9.6～13.1 秒，有限样本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35C0055-EC55-4227-AB07-4F5CF9CF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已保留网关超时和 JSON 失败记录。尚无真实商家满意度、节省工时或付费数据。</a:t>
            </a:r>
          </a:p>
        </p:txBody>
      </p:sp>
    </p:spTree>
    <p:extLst>
      <p:ext uri="{BB962C8B-B14F-4D97-AF65-F5344CB8AC3E}">
        <p14:creationId xmlns:p14="http://schemas.microsoft.com/office/powerpoint/2010/main" val="654085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8A83794-558F-4858-9F4A-0BEEF7B9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07   产品定位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9FDEC6-2D6A-4A88-8EE2-38251FB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价值假设：减少多店处理中的上下文切换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E6DACF-37D9-46D7-98E6-BE5DCFA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2C61B19-A15E-478B-ACBB-4E6A520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2FD6F-E02C-4AEF-BA37-205B6A573841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6829425"/>
              </a:tblGrid>
              <a:tr h="79057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用户的替代做法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本项目拟验证的价值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79057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人工切换各店后台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在统一页面保留会话与交接信息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79057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用通用大模型生成回复后复制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把回答与店铺知识、订单工具和工单结合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  <a:tr h="79057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使用平台内客服工具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在获得授权后统一多店的操作体验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1645BFE-A63C-416B-B7C5-87D8A26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这是使用方式的概念对比，未对具体竞品作功能、价格或份额排名。</a:t>
            </a:r>
          </a:p>
        </p:txBody>
      </p:sp>
    </p:spTree>
    <p:extLst>
      <p:ext uri="{BB962C8B-B14F-4D97-AF65-F5344CB8AC3E}">
        <p14:creationId xmlns:p14="http://schemas.microsoft.com/office/powerpoint/2010/main" val="1833479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04A243D-821E-48B1-8AAA-97D3B7EC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08   商业模式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87B2FE-BEB0-4C70-AC10-CDDBFA8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按店铺数与 AI 会话额度订阅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0EFE0A-C845-4924-B55D-8290F6B3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807FF77-68A1-4250-8BBF-E38942A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348529E-E8AB-4C0D-B1DA-B7A5E481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48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199 元 / 月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209FC23-B625-474B-A409-32D0BE2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轻量版 · 拟测试报价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A329849-A751-4A23-A9D3-7964470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048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 家店铺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每月 1,000 次 AI 会话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先验证个体店主的付费意愿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A63CD3-1335-40D8-B13C-85DB1032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238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499 元 / 月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FEA3D9B-4B8B-4626-ABCD-AA06F33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多店版 · 拟测试报价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6881F68-EB17-404D-8566-D99EA52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6675"/>
            <a:ext cx="5238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最多 3 家店铺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每月 3,000 次 AI 会话</a:t>
            </a:r>
          </a:p>
          <a:p xmlns:a="http://schemas.openxmlformats.org/drawingml/2006/main">
            <a:pPr>
              <a:def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检验多店协同是否值得额外付费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8CF184C-C643-4DFC-9058-6FF0C61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会话暂按同一顾客连续 30 分钟定义。额度、超额规则与报价均待试点确认。</a:t>
            </a:r>
          </a:p>
        </p:txBody>
      </p:sp>
    </p:spTree>
    <p:extLst>
      <p:ext uri="{BB962C8B-B14F-4D97-AF65-F5344CB8AC3E}">
        <p14:creationId xmlns:p14="http://schemas.microsoft.com/office/powerpoint/2010/main" val="1262515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36E3538-D623-4A57-8086-DBAE96F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09   单位经济假设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838FD0-1CB1-4721-AC20-80B3492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499 元套餐，需要先控制单次会话成本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F3537F-9E71-4234-9A3D-7CFA0FFF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AF98FA-67F0-4143-A33E-3FAF652B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70E1F-A3AD-46E4-B856-D5CECED8CA56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05400"/>
                <a:gridCol w="2933700"/>
                <a:gridCol w="2933700"/>
              </a:tblGrid>
              <a:tr h="70294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单商家月度，满额 3,000 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基准假设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较高模型成本情景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70294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模型成本 / 会话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70294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模型月成本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  <a:tr h="70294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基础资源 + 支付与支持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+ 60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+ 60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702945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月贡献额 / 贡献率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309 元 / 61.9%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159 元 / 31.9%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4D0BD4C-6EF9-4297-9DDF-F41D98E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贡献额 = 499 − 模型成本 − 40 − 60。全部成本为假设，未扣研发、获客、税费与固定费用。</a:t>
            </a:r>
          </a:p>
        </p:txBody>
      </p:sp>
    </p:spTree>
    <p:extLst>
      <p:ext uri="{BB962C8B-B14F-4D97-AF65-F5344CB8AC3E}">
        <p14:creationId xmlns:p14="http://schemas.microsoft.com/office/powerpoint/2010/main" val="872684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2C59415-9B92-495E-9B2C-11FE756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10   获客与试点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DEB6CE-504E-4D57-82DE-BF5F93B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从 10 次访谈开始，验证 3 家商家的日常使用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78CA51C-9FBD-4C9D-A425-4A38BEC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72FDCA-4CAD-472D-9E87-9FB48AD3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9D1AD1-5642-468D-8AE6-A12F1838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招募渠道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8D0B54-C39E-4C42-B449-8EDD9540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校园创业社群与孵化器商家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8116148-2FF2-41D4-9335-CC9DA41A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优先标准品类和店主亲自接待的店铺。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围绕真实高频问题建立脱敏样本集。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046455C-B5F6-4988-821F-2090D194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试点方式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9B32695-5CC4-4B45-BFB8-6D607C3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860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取得授权后逐步接入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5AD9ADE-0A54-4A8F-AADC-89465C23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授权前采用离线样本或人工发送建议。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记录回复正确性、人工识别与单次成本。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EF49773-2195-4A29-8BCB-999E9931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拟定放行门槛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B60CCBE-1DBA-4C1F-BD15-9040C2E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高频样本正确回复 ≥90%；100 个高风险样本中越权执行或虚假退款承诺为 0；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至少 2 家表达继续付费意愿。以上均为未来目标。</a:t>
            </a:r>
          </a:p>
        </p:txBody>
      </p:sp>
    </p:spTree>
    <p:extLst>
      <p:ext uri="{BB962C8B-B14F-4D97-AF65-F5344CB8AC3E}">
        <p14:creationId xmlns:p14="http://schemas.microsoft.com/office/powerpoint/2010/main" val="329830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6E8291A-6B2C-49FF-B714-1A2FED1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11   收入情景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743409-1AA6-45BA-BCF5-EF9BF84B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先验证愿意付费，再讨论规模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10AD52-D397-4449-B1E0-376E76A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DF2D10-082C-4B78-AEAE-D5CB6CA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17E5B-605B-4312-BA84-872E2B46F11B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9900"/>
                <a:gridCol w="3009900"/>
              </a:tblGrid>
              <a:tr h="76835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假设全部订阅 499 元套餐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月订阅收入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年化订阅收入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76835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家付费商家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49,900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598,800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76835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 家付费商家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249,500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2,994,000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BE5B771-5D76-4742-B803-60E12C17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当前已验证付费客户：0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2E4AE9F-5B57-47EA-ADEC-6207C7F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以上仅为客户数 × 单价 × 12 的算术情景，不是市场规模、真实业绩或营收预测。</a:t>
            </a:r>
          </a:p>
        </p:txBody>
      </p:sp>
    </p:spTree>
    <p:extLst>
      <p:ext uri="{BB962C8B-B14F-4D97-AF65-F5344CB8AC3E}">
        <p14:creationId xmlns:p14="http://schemas.microsoft.com/office/powerpoint/2010/main" val="134176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87C58FE-081D-4568-9BB4-07BD1FC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12   未来 90 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F48DF6-0B01-4D38-A0E8-818191B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从工程 MVP 走向受控商业试点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718CAF-72ED-43B7-9CA9-85E58C5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D7B8DF-CA8D-444E-8962-E816800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9A26C-40C9-4649-B1F8-F4E52DD8E072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095875"/>
                <a:gridCol w="3352800"/>
              </a:tblGrid>
              <a:tr h="87630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AFC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T w="9525">
                      <a:solidFill>
                        <a:srgbClr val="C5D1C3"/>
                      </a:solidFill>
                      <a:prstDash val="solid"/>
                    </a:lnT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376A51"/>
                    </a:solidFill>
                  </a:tcPr>
                </a:tc>
              </a:tr>
              <a:tr h="87630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10.21—11.19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次访谈、3 家试用意向</a:t>
                      </a:r>
                    </a:p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脱敏高频问题评测集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确认场景与购买动机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  <a:tr h="87630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11.20—12.19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权限、审计、限流、成本统计</a:t>
                      </a:r>
                    </a:p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申请一个平台的生产授权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授权与商家知识审核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EBEFE7"/>
                    </a:solidFill>
                  </a:tcPr>
                </a:tc>
              </a:tr>
              <a:tr h="876300"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12.20—2027.01.18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5D1C3"/>
                      </a:solidFill>
                      <a:prstDash val="solid"/>
                    </a:lnL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小范围付费试点</a:t>
                      </a:r>
                    </a:p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订阅、支持与质量复盘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lIns="161925" tIns="142875" rIns="1333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D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依据实测指标决定迭代范围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5D1C3"/>
                      </a:solidFill>
                      <a:prstDash val="solid"/>
                    </a:lnR>
                    <a:lnB w="9525">
                      <a:solidFill>
                        <a:srgbClr val="C5D1C3"/>
                      </a:solidFill>
                      <a:prstDash val="solid"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6CBC6BC-0459-4E1D-A08C-644C72F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时间窗均为 2026 年 10 月 20 日之后的计划，平台授权进度会影响接入排期。</a:t>
            </a:r>
          </a:p>
        </p:txBody>
      </p:sp>
    </p:spTree>
    <p:extLst>
      <p:ext uri="{BB962C8B-B14F-4D97-AF65-F5344CB8AC3E}">
        <p14:creationId xmlns:p14="http://schemas.microsoft.com/office/powerpoint/2010/main" val="18766983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66B248A6-93F3-436C-9336-4DAC0925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13   团队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A51C0C-B962-4D37-9066-F7FED251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四人协作，把前后端和验证串起来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E24463-168A-4DA7-931A-135298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29E36B-22C3-46E2-A105-F0B26C21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35A702-6C2B-4D6D-A821-48FD731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4C5247-A281-490A-8FCA-A4151B6A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架构与整体交付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955E72D-269C-494A-A00D-18DE0F6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10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后端接入、Agent 编排与集成。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统筹接口和演示可用性。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E8463CA-E057-4457-9F0C-F299D6B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E27512A-22D2-4D8A-9811-FB534E5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Vue 与产品体验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AF0423B-5F05-41F5-BBAF-2CBCBAD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借助 AI 完成商家工作台、顾客端。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负责交互与前端联调。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DC6B481-4BCF-422D-8E44-4A5D58E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64CFAF8-DF73-4AD6-B5AC-5AB383F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知识与质量验证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0E89C42-F6BF-424C-B517-78EB15D4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10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整理商家知识、业务样本与验收。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维护演示材料与问题清单。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D8EBB91-B057-4246-8DB0-63A5654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814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成员 D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73BE5C3-9D37-4869-BFBC-F597F95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243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Java 电商业务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30CF915-4D51-4BBF-9F72-2657306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95875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借助 AI 完成订单、物流与售后业务。</a:t>
            </a:r>
          </a:p>
          <a:p xmlns:a="http://schemas.openxmlformats.org/drawingml/2006/main">
            <a:pPr>
              <a:def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共同维护数据模型及服务测试。</a:t>
            </a:r>
          </a:p>
        </p:txBody>
      </p:sp>
    </p:spTree>
    <p:extLst>
      <p:ext uri="{BB962C8B-B14F-4D97-AF65-F5344CB8AC3E}">
        <p14:creationId xmlns:p14="http://schemas.microsoft.com/office/powerpoint/2010/main" val="13471514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4AC5C03-60AC-4CEC-984F-050567CB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14   孵化诉求与风险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E7A335-13B5-43EB-8FF1-B9FA83A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需要真实场景，也需要接入和商业化辅导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2C284-16E0-4101-8752-652E71E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DBF8B-0A18-4BE9-8D99-B17906FE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941F3D4-A794-4A9B-969A-ED7E9BC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希望获得的资源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75072D-8476-4684-B5E0-96F167B6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1054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3～5 家标准品类商家试点机会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平台开放能力与授权指导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模型 / 云资源及成本优化支持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数据合规与软件许可辅导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150EC33-06F2-4357-87DF-89F139E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76A51"/>
                </a:solidFill>
                <a:latin typeface="Microsoft YaHei"/>
                <a:ea typeface="Microsoft YaHei"/>
                <a:cs typeface="Microsoft YaHei"/>
              </a:rPr>
              <a:t>商业化前必须解决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DDBF80-D362-482D-A219-693445A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模型事实性与响应延迟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租户权限、审计、限流与脱敏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真实平台授权与服务责任</a:t>
            </a:r>
          </a:p>
          <a:p xmlns:a="http://schemas.openxmlformats.org/drawingml/2006/main">
            <a:pPr>
              <a:def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D2A"/>
                </a:solidFill>
                <a:latin typeface="Microsoft YaHei"/>
                <a:ea typeface="Microsoft YaHei"/>
                <a:cs typeface="Microsoft YaHei"/>
              </a:rPr>
              <a:t>教学用途声明和第三方模板许可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5BD7DD0-AFB1-4685-8C4A-9F51AE82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85E"/>
                </a:solidFill>
                <a:latin typeface="Microsoft YaHei"/>
                <a:ea typeface="Microsoft YaHei"/>
                <a:cs typeface="Microsoft YaHei"/>
              </a:rPr>
              <a:t>仓库当前标注教学学习用途，商业发布前须复核全部依赖与前端模板许可。</a:t>
            </a:r>
          </a:p>
        </p:txBody>
      </p:sp>
    </p:spTree>
    <p:extLst>
      <p:ext uri="{BB962C8B-B14F-4D97-AF65-F5344CB8AC3E}">
        <p14:creationId xmlns:p14="http://schemas.microsoft.com/office/powerpoint/2010/main" val="9309875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2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2E37A5F-5501-43FE-A071-74DB4FE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15   产品体验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2A8096-9776-4B26-8DEB-BFA79004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rPr>
              <a:t>打开链接，完成一次顾客与商家的协作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42A8F0-D795-4ECF-95CB-1981C828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ANJING AI   /   商业计划书   /   2026.10.20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46CCEB-989D-4A61-BD9D-9D11D0F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4539C26-659D-4FC1-873C-F749169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公开交互体验 · 无需登录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2C3819-D748-45BE-B52C-812B6A75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AFCF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5b34b9d9534cfa"/>
              </a:rPr>
              <a:t>https://chichizn.github.io/agent-customer-service/experience.html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009560D-A193-4439-BB15-60DF695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打开顾客端提问，再到商家端查看订单、演示工单和人工接管。</a:t>
            </a:r>
          </a:p>
          <a:p xmlns:a="http://schemas.openxmlformats.org/drawingml/2006/main">
            <a:pPr>
              <a:def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8E4DA"/>
                </a:solidFill>
                <a:latin typeface="Microsoft YaHei"/>
                <a:ea typeface="Microsoft YaHei"/>
                <a:cs typeface="Microsoft YaHei"/>
              </a:rPr>
              <a:t>建议电脑体验，双端使用同一浏览器。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7818594-B9D9-486D-B1C4-14D1B5A6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C0AE"/>
                </a:solidFill>
                <a:latin typeface="Microsoft YaHei"/>
                <a:ea typeface="Microsoft YaHei"/>
                <a:cs typeface="Microsoft YaHei"/>
              </a:rPr>
              <a:t>公开站使用本地规则与虚构数据。本地真实模型能力详见第 5、7 页及测试证据。</a:t>
            </a:r>
          </a:p>
        </p:txBody>
      </p:sp>
    </p:spTree>
    <p:extLst>
      <p:ext uri="{BB962C8B-B14F-4D97-AF65-F5344CB8AC3E}">
        <p14:creationId xmlns:p14="http://schemas.microsoft.com/office/powerpoint/2010/main" val="623954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2026-10-20T12:26:01.4020000Z</dcterms:created>
  <dcterms:modified xsi:type="dcterms:W3CDTF">2026-10-20T12:26:01.4020000Z</dcterms:modified>
</coreProperties>
</file>